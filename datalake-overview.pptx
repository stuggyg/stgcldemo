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3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212080"/>
            <a:ext cx="12188952" cy="54864"/>
          </a:xfrm>
          <a:prstGeom prst="rect">
            <a:avLst/>
          </a:prstGeom>
          <a:solidFill>
            <a:srgbClr val="6FA28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201168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Open-Source MVP Data Lake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749808" y="32004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CADF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self-hosted, offline platform built almost entirely from open source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49808" y="54864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FA2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overview  ·  for technology leadership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6E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idea in one line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515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all your data cheaply in one place, and decide how to use it later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D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lake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a single, low-cost place to store and analyse all of the organisation's data — running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our own hardware, fully offline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with no cloud dependency and no per-terabyte fees.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743200"/>
            <a:ext cx="3520440" cy="3108960"/>
          </a:xfrm>
          <a:prstGeom prst="roundRect">
            <a:avLst>
              <a:gd name="adj" fmla="val 3529"/>
            </a:avLst>
          </a:prstGeom>
          <a:solidFill>
            <a:srgbClr val="F2F5F4"/>
          </a:solidFill>
          <a:ln/>
          <a:effectLst>
            <a:outerShdw sx="100000" sy="100000" kx="0" ky="0" algn="bl" rotWithShape="0" blurRad="50800" dist="25400" dir="5400000">
              <a:srgbClr val="BBBBBB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3063240"/>
            <a:ext cx="640080" cy="640080"/>
          </a:xfrm>
          <a:prstGeom prst="ellipse">
            <a:avLst/>
          </a:prstGeom>
          <a:solidFill>
            <a:srgbClr val="1D6E5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68680" y="3063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8404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D6E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 source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434340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licensing cost for the core. Inspect, extend, or swap any part — no vendor lock-in.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343400" y="2743200"/>
            <a:ext cx="3520440" cy="3108960"/>
          </a:xfrm>
          <a:prstGeom prst="roundRect">
            <a:avLst>
              <a:gd name="adj" fmla="val 3529"/>
            </a:avLst>
          </a:prstGeom>
          <a:solidFill>
            <a:srgbClr val="E8F3EE"/>
          </a:solidFill>
          <a:ln/>
          <a:effectLst>
            <a:outerShdw sx="100000" sy="100000" kx="0" ky="0" algn="bl" rotWithShape="0" blurRad="50800" dist="25400" dir="5400000">
              <a:srgbClr val="BBBBBB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3063240"/>
            <a:ext cx="640080" cy="640080"/>
          </a:xfrm>
          <a:prstGeom prst="ellipse">
            <a:avLst/>
          </a:prstGeom>
          <a:solidFill>
            <a:srgbClr val="1D6E5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663440" y="3063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4617720" y="38404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D6E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Runs offline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4617720" y="434340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our own infrastructure. Full control of our data; nothing leaves the building.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138160" y="2743200"/>
            <a:ext cx="3520440" cy="3108960"/>
          </a:xfrm>
          <a:prstGeom prst="roundRect">
            <a:avLst>
              <a:gd name="adj" fmla="val 3529"/>
            </a:avLst>
          </a:prstGeom>
          <a:solidFill>
            <a:srgbClr val="F2F5F4"/>
          </a:solidFill>
          <a:ln/>
          <a:effectLst>
            <a:outerShdw sx="100000" sy="100000" kx="0" ky="0" algn="bl" rotWithShape="0" blurRad="50800" dist="25400" dir="5400000">
              <a:srgbClr val="BBBBBB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458200" y="3063240"/>
            <a:ext cx="640080" cy="640080"/>
          </a:xfrm>
          <a:prstGeom prst="ellipse">
            <a:avLst/>
          </a:prstGeom>
          <a:solidFill>
            <a:srgbClr val="1D6E5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458200" y="3063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8412480" y="38404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D6E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Low cost, low risk</a:t>
            </a:r>
            <a:endParaRPr lang="en-US" sz="1900" dirty="0"/>
          </a:p>
        </p:txBody>
      </p:sp>
      <p:sp>
        <p:nvSpPr>
          <p:cNvPr id="19" name="Text 17"/>
          <p:cNvSpPr txBox="1"/>
          <p:nvPr/>
        </p:nvSpPr>
        <p:spPr>
          <a:xfrm>
            <a:off x="8412480" y="434340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 object storage, proven parts. Prove the pattern fast, grow it later.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6E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515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 raw data, refine it in stages, serve the result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537960" y="1554480"/>
            <a:ext cx="5074920" cy="475488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5400000">
              <a:srgbClr val="BBBBBB">
                <a:alpha val="35000"/>
              </a:srgbClr>
            </a:outerShdw>
          </a:effectLst>
        </p:spPr>
      </p:sp>
      <p:pic>
        <p:nvPicPr>
          <p:cNvPr id="5" name="Image 0" descr="/home/claude/flow2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1783080"/>
            <a:ext cx="4434840" cy="391363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37960" y="5806440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— the core platform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640080" y="1737360"/>
            <a:ext cx="685800" cy="685800"/>
          </a:xfrm>
          <a:prstGeom prst="ellipse">
            <a:avLst/>
          </a:prstGeom>
          <a:solidFill>
            <a:srgbClr val="1D6E56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640080" y="17373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1508760" y="16916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D6E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Land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1508760" y="214884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 arrives from files and databases into the lake — untouched.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40080" y="3246120"/>
            <a:ext cx="685800" cy="685800"/>
          </a:xfrm>
          <a:prstGeom prst="ellipse">
            <a:avLst/>
          </a:prstGeom>
          <a:solidFill>
            <a:srgbClr val="1D6E56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640080" y="32461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1508760" y="32004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D6E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Refine</a:t>
            </a:r>
            <a:endParaRPr lang="en-US" sz="2000" dirty="0"/>
          </a:p>
        </p:txBody>
      </p:sp>
      <p:sp>
        <p:nvSpPr>
          <p:cNvPr id="14" name="Text 11"/>
          <p:cNvSpPr txBox="1"/>
          <p:nvPr/>
        </p:nvSpPr>
        <p:spPr>
          <a:xfrm>
            <a:off x="1508760" y="365760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 and shaped in stages (bronze → silver → gold).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640080" y="4754880"/>
            <a:ext cx="685800" cy="685800"/>
          </a:xfrm>
          <a:prstGeom prst="ellipse">
            <a:avLst/>
          </a:prstGeom>
          <a:solidFill>
            <a:srgbClr val="C6852C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640080" y="47548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1508760" y="47091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D6E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Serve</a:t>
            </a:r>
            <a:endParaRPr lang="en-US" sz="2000" dirty="0"/>
          </a:p>
        </p:txBody>
      </p:sp>
      <p:sp>
        <p:nvSpPr>
          <p:cNvPr id="18" name="Text 15"/>
          <p:cNvSpPr txBox="1"/>
          <p:nvPr/>
        </p:nvSpPr>
        <p:spPr>
          <a:xfrm>
            <a:off x="1508760" y="516636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Business-ready tables for staff, dashboards, and BI tools.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6E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technologies — and what they do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515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core component is open source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49240" cy="2057400"/>
          </a:xfrm>
          <a:prstGeom prst="roundRect">
            <a:avLst>
              <a:gd name="adj" fmla="val 5333"/>
            </a:avLst>
          </a:prstGeom>
          <a:solidFill>
            <a:srgbClr val="E8F3EE"/>
          </a:solidFill>
          <a:ln/>
          <a:effectLst>
            <a:outerShdw sx="100000" sy="100000" kx="0" ky="0" algn="bl" rotWithShape="0" blurRad="50800" dist="25400" dir="5400000">
              <a:srgbClr val="BBBBBB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920240"/>
            <a:ext cx="594360" cy="594360"/>
          </a:xfrm>
          <a:prstGeom prst="ellipse">
            <a:avLst/>
          </a:prstGeom>
          <a:solidFill>
            <a:srgbClr val="1D6E5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19202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645920" y="198424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D6E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Garage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651760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lake — S3 object storage holding all data on your own hardware.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172200" y="1600200"/>
            <a:ext cx="5349240" cy="2057400"/>
          </a:xfrm>
          <a:prstGeom prst="roundRect">
            <a:avLst>
              <a:gd name="adj" fmla="val 5333"/>
            </a:avLst>
          </a:prstGeom>
          <a:solidFill>
            <a:srgbClr val="F2F5F4"/>
          </a:solidFill>
          <a:ln/>
          <a:effectLst>
            <a:outerShdw sx="100000" sy="100000" kx="0" ky="0" algn="bl" rotWithShape="0" blurRad="50800" dist="25400" dir="5400000">
              <a:srgbClr val="BBBBBB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92240" y="1920240"/>
            <a:ext cx="594360" cy="594360"/>
          </a:xfrm>
          <a:prstGeom prst="ellipse">
            <a:avLst/>
          </a:prstGeom>
          <a:solidFill>
            <a:srgbClr val="1D6E5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92240" y="19202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7269480" y="198424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D6E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Dagster + DuckDB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6492240" y="2651760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engine — runs the pipeline and transforms data through each layer.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3886200"/>
            <a:ext cx="5349240" cy="2057400"/>
          </a:xfrm>
          <a:prstGeom prst="roundRect">
            <a:avLst>
              <a:gd name="adj" fmla="val 5333"/>
            </a:avLst>
          </a:prstGeom>
          <a:solidFill>
            <a:srgbClr val="F2F5F4"/>
          </a:solidFill>
          <a:ln/>
          <a:effectLst>
            <a:outerShdw sx="100000" sy="100000" kx="0" ky="0" algn="bl" rotWithShape="0" blurRad="50800" dist="25400" dir="5400000">
              <a:srgbClr val="BBBBBB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68680" y="4206240"/>
            <a:ext cx="594360" cy="594360"/>
          </a:xfrm>
          <a:prstGeom prst="ellipse">
            <a:avLst/>
          </a:prstGeom>
          <a:solidFill>
            <a:srgbClr val="1D6E5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68680" y="42062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645920" y="427024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D6E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Apache Parquet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868680" y="4937760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format — efficient open files any analytics tool can read.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172200" y="3886200"/>
            <a:ext cx="5349240" cy="2057400"/>
          </a:xfrm>
          <a:prstGeom prst="roundRect">
            <a:avLst>
              <a:gd name="adj" fmla="val 5333"/>
            </a:avLst>
          </a:prstGeom>
          <a:solidFill>
            <a:srgbClr val="E8F3EE"/>
          </a:solidFill>
          <a:ln/>
          <a:effectLst>
            <a:outerShdw sx="100000" sy="100000" kx="0" ky="0" algn="bl" rotWithShape="0" blurRad="50800" dist="25400" dir="5400000">
              <a:srgbClr val="BBBBBB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92240" y="4206240"/>
            <a:ext cx="594360" cy="594360"/>
          </a:xfrm>
          <a:prstGeom prst="ellipse">
            <a:avLst/>
          </a:prstGeom>
          <a:solidFill>
            <a:srgbClr val="1D6E56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92240" y="42062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7269480" y="427024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D6E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Server 2025</a:t>
            </a:r>
            <a:endParaRPr lang="en-US" sz="1900" dirty="0"/>
          </a:p>
        </p:txBody>
      </p:sp>
      <p:sp>
        <p:nvSpPr>
          <p:cNvPr id="23" name="Text 21"/>
          <p:cNvSpPr txBox="1"/>
          <p:nvPr/>
        </p:nvSpPr>
        <p:spPr>
          <a:xfrm>
            <a:off x="6492240" y="4937760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serving layer — finished results as tables staff already know.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6E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lock-in — an enterprise path for each part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515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technology we would scale toward as data and users grow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804672"/>
          </a:xfrm>
          <a:prstGeom prst="roundRect">
            <a:avLst>
              <a:gd name="adj" fmla="val 13636"/>
            </a:avLst>
          </a:prstGeom>
          <a:solidFill>
            <a:srgbClr val="E8F3EE"/>
          </a:solidFill>
          <a:ln/>
          <a:effectLst>
            <a:outerShdw sx="100000" sy="100000" kx="0" ky="0" algn="bl" rotWithShape="0" blurRad="50800" dist="25400" dir="5400000">
              <a:srgbClr val="BBBBBB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600200"/>
            <a:ext cx="30175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D6E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Garage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3749040" y="1600200"/>
            <a:ext cx="5486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685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4389120" y="1600200"/>
            <a:ext cx="6949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Ceph — petabyte-scale on-prem object storage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2532888"/>
            <a:ext cx="11064240" cy="804672"/>
          </a:xfrm>
          <a:prstGeom prst="roundRect">
            <a:avLst>
              <a:gd name="adj" fmla="val 13636"/>
            </a:avLst>
          </a:prstGeom>
          <a:solidFill>
            <a:srgbClr val="F2F5F4"/>
          </a:solidFill>
          <a:ln/>
          <a:effectLst>
            <a:outerShdw sx="100000" sy="100000" kx="0" ky="0" algn="bl" rotWithShape="0" blurRad="50800" dist="25400" dir="5400000">
              <a:srgbClr val="BBBBBB">
                <a:alpha val="3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822960" y="2532888"/>
            <a:ext cx="30175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D6E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Dagster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3749040" y="2532888"/>
            <a:ext cx="5486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685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4389120" y="2532888"/>
            <a:ext cx="6949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Airflow — the enterprise-standard orchestrator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3465576"/>
            <a:ext cx="11064240" cy="804672"/>
          </a:xfrm>
          <a:prstGeom prst="roundRect">
            <a:avLst>
              <a:gd name="adj" fmla="val 13636"/>
            </a:avLst>
          </a:prstGeom>
          <a:solidFill>
            <a:srgbClr val="E8F3EE"/>
          </a:solidFill>
          <a:ln/>
          <a:effectLst>
            <a:outerShdw sx="100000" sy="100000" kx="0" ky="0" algn="bl" rotWithShape="0" blurRad="50800" dist="25400" dir="5400000">
              <a:srgbClr val="BBBBBB">
                <a:alpha val="3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822960" y="3465576"/>
            <a:ext cx="30175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D6E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DuckDB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3749040" y="3465576"/>
            <a:ext cx="5486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685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4389120" y="3465576"/>
            <a:ext cx="6949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Spark — large-scale distributed processing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48640" y="4398264"/>
            <a:ext cx="11064240" cy="804672"/>
          </a:xfrm>
          <a:prstGeom prst="roundRect">
            <a:avLst>
              <a:gd name="adj" fmla="val 13636"/>
            </a:avLst>
          </a:prstGeom>
          <a:solidFill>
            <a:srgbClr val="F2F5F4"/>
          </a:solidFill>
          <a:ln/>
          <a:effectLst>
            <a:outerShdw sx="100000" sy="100000" kx="0" ky="0" algn="bl" rotWithShape="0" blurRad="50800" dist="25400" dir="5400000">
              <a:srgbClr val="BBBBBB">
                <a:alpha val="35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822960" y="4398264"/>
            <a:ext cx="30175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D6E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Parquet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3749040" y="4398264"/>
            <a:ext cx="5486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685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4389120" y="4398264"/>
            <a:ext cx="6949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Iceberg — transactions &amp; versioning at scale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48640" y="5330952"/>
            <a:ext cx="11064240" cy="804672"/>
          </a:xfrm>
          <a:prstGeom prst="roundRect">
            <a:avLst>
              <a:gd name="adj" fmla="val 13636"/>
            </a:avLst>
          </a:prstGeom>
          <a:solidFill>
            <a:srgbClr val="E8F3EE"/>
          </a:solidFill>
          <a:ln/>
          <a:effectLst>
            <a:outerShdw sx="100000" sy="100000" kx="0" ky="0" algn="bl" rotWithShape="0" blurRad="50800" dist="25400" dir="5400000">
              <a:srgbClr val="BBBBBB">
                <a:alpha val="35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822960" y="5330952"/>
            <a:ext cx="30175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D6E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Server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3749040" y="5330952"/>
            <a:ext cx="5486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685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4389120" y="5330952"/>
            <a:ext cx="6949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— leading open-source database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6E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Low-code &amp; visual tooling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515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Reducing hand-written code — for engineers who prefer it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309360" y="1554480"/>
            <a:ext cx="5303520" cy="48006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5400000">
              <a:srgbClr val="BBBBBB">
                <a:alpha val="35000"/>
              </a:srgbClr>
            </a:outerShdw>
          </a:effectLst>
        </p:spPr>
      </p:sp>
      <p:pic>
        <p:nvPicPr>
          <p:cNvPr id="5" name="Image 0" descr="/home/claude/flow2_2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37960" y="1783080"/>
            <a:ext cx="4846320" cy="366674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309360" y="557784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— the extended stack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48640" y="1783080"/>
            <a:ext cx="5486400" cy="1280160"/>
          </a:xfrm>
          <a:prstGeom prst="roundRect">
            <a:avLst>
              <a:gd name="adj" fmla="val 8571"/>
            </a:avLst>
          </a:prstGeom>
          <a:solidFill>
            <a:srgbClr val="F2F5F4"/>
          </a:solidFill>
          <a:ln/>
          <a:effectLst>
            <a:outerShdw sx="100000" sy="100000" kx="0" ky="0" algn="bl" rotWithShape="0" blurRad="50800" dist="25400" dir="5400000">
              <a:srgbClr val="BBBBBB">
                <a:alpha val="35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822960" y="1947672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6E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Apache NiFi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237744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Drag-and-drop visual ingestion — no code.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48640" y="3246120"/>
            <a:ext cx="5486400" cy="1280160"/>
          </a:xfrm>
          <a:prstGeom prst="roundRect">
            <a:avLst>
              <a:gd name="adj" fmla="val 8571"/>
            </a:avLst>
          </a:prstGeom>
          <a:solidFill>
            <a:srgbClr val="E8F3EE"/>
          </a:solidFill>
          <a:ln/>
          <a:effectLst>
            <a:outerShdw sx="100000" sy="100000" kx="0" ky="0" algn="bl" rotWithShape="0" blurRad="50800" dist="25400" dir="5400000">
              <a:srgbClr val="BBBBBB">
                <a:alpha val="35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822960" y="3410712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6E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dbt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822960" y="384048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Transforms written in plain SQL, with testing &amp; lineage built in.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548640" y="4709160"/>
            <a:ext cx="5486400" cy="1280160"/>
          </a:xfrm>
          <a:prstGeom prst="roundRect">
            <a:avLst>
              <a:gd name="adj" fmla="val 8571"/>
            </a:avLst>
          </a:prstGeom>
          <a:solidFill>
            <a:srgbClr val="F2F5F4"/>
          </a:solidFill>
          <a:ln/>
          <a:effectLst>
            <a:outerShdw sx="100000" sy="100000" kx="0" ky="0" algn="bl" rotWithShape="0" blurRad="50800" dist="25400" dir="5400000">
              <a:srgbClr val="BBBBBB">
                <a:alpha val="35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822960" y="4873752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6E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Grafana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822960" y="530352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Point-and-click dashboards over the gold data.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6E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 source &amp; security — the honest note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515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cost, but a responsibility that must be resourced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1064240" cy="1737360"/>
          </a:xfrm>
          <a:prstGeom prst="roundRect">
            <a:avLst>
              <a:gd name="adj" fmla="val 6316"/>
            </a:avLst>
          </a:prstGeom>
          <a:solidFill>
            <a:srgbClr val="E8F3EE"/>
          </a:solidFill>
          <a:ln/>
          <a:effectLst>
            <a:outerShdw sx="100000" sy="100000" kx="0" ky="0" algn="bl" rotWithShape="0" blurRad="50800" dist="25400" dir="5400000">
              <a:srgbClr val="BBBBBB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68680" y="1874520"/>
            <a:ext cx="104241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 removes licensing cost, but it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D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shifts the security burden onto us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With no vendor, we own vulnerability tracking, patching, hardening, and monitoring. Manageable and normal — but a real, ongoing commitment, not a one-time setup.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6576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6E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Practical mitigations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206240"/>
            <a:ext cx="106070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Standardise on well-supported enterprise projects (fast security response).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 commercial support for the critical components.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 the platform into our existing patching and monitoring.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6E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runs it — three key roles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515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platform is only as valuable as the people who run it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520440" cy="3200400"/>
          </a:xfrm>
          <a:prstGeom prst="roundRect">
            <a:avLst>
              <a:gd name="adj" fmla="val 3429"/>
            </a:avLst>
          </a:prstGeom>
          <a:solidFill>
            <a:srgbClr val="F2F5F4"/>
          </a:solidFill>
          <a:ln/>
          <a:effectLst>
            <a:outerShdw sx="100000" sy="100000" kx="0" ky="0" algn="bl" rotWithShape="0" blurRad="50800" dist="25400" dir="5400000">
              <a:srgbClr val="BBBBBB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87452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D6E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Platform / infra engineer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788920"/>
            <a:ext cx="3017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platform health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patching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&amp; backups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343400" y="1645920"/>
            <a:ext cx="3520440" cy="3200400"/>
          </a:xfrm>
          <a:prstGeom prst="roundRect">
            <a:avLst>
              <a:gd name="adj" fmla="val 3429"/>
            </a:avLst>
          </a:prstGeom>
          <a:solidFill>
            <a:srgbClr val="F2F5F4"/>
          </a:solidFill>
          <a:ln/>
          <a:effectLst>
            <a:outerShdw sx="100000" sy="100000" kx="0" ky="0" algn="bl" rotWithShape="0" blurRad="50800" dist="25400" dir="5400000">
              <a:srgbClr val="BBBBBB">
                <a:alpha val="3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617720" y="187452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D6E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engineer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4663440" y="2788920"/>
            <a:ext cx="3017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pipeline runs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&amp; extend pipelines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Safeguard data quality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138160" y="1645920"/>
            <a:ext cx="3520440" cy="3200400"/>
          </a:xfrm>
          <a:prstGeom prst="roundRect">
            <a:avLst>
              <a:gd name="adj" fmla="val 3429"/>
            </a:avLst>
          </a:prstGeom>
          <a:solidFill>
            <a:srgbClr val="E8F3EE"/>
          </a:solidFill>
          <a:ln/>
          <a:effectLst>
            <a:outerShdw sx="100000" sy="100000" kx="0" ky="0" algn="bl" rotWithShape="0" blurRad="50800" dist="25400" dir="5400000">
              <a:srgbClr val="BBBBBB">
                <a:alpha val="3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412480" y="187452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685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Reporting / dashboard engineer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8458200" y="2788920"/>
            <a:ext cx="3017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&amp; maintain dashboards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with the business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Assure what's reported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5074920"/>
            <a:ext cx="11064240" cy="1188720"/>
          </a:xfrm>
          <a:prstGeom prst="roundRect">
            <a:avLst>
              <a:gd name="adj" fmla="val 9231"/>
            </a:avLst>
          </a:prstGeom>
          <a:solidFill>
            <a:srgbClr val="0C3A2E"/>
          </a:solidFill>
          <a:ln/>
          <a:effectLst>
            <a:outerShdw sx="100000" sy="100000" kx="0" ky="0" algn="bl" rotWithShape="0" blurRad="50800" dist="25400" dir="5400000">
              <a:srgbClr val="BBBBBB">
                <a:alpha val="3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868680" y="525780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A7D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dashboard role matters:  </a:t>
            </a:r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lake no one can see delivers no value. Fund the reporting role alongside the engineering — not after.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6E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vs buy — our stack vs a platform (Iomete)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515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are open-format and self-hosted — it's a build-vs-buy call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40680" cy="4480560"/>
          </a:xfrm>
          <a:prstGeom prst="roundRect">
            <a:avLst>
              <a:gd name="adj" fmla="val 2449"/>
            </a:avLst>
          </a:prstGeom>
          <a:solidFill>
            <a:srgbClr val="E8F3EE"/>
          </a:solidFill>
          <a:ln/>
          <a:effectLst>
            <a:outerShdw sx="100000" sy="100000" kx="0" ky="0" algn="bl" rotWithShape="0" blurRad="50800" dist="25400" dir="5400000">
              <a:srgbClr val="BBBBBB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8745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D6E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(our DIY stack)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468880"/>
            <a:ext cx="48463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licensing; pay in team time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— a few containers a DBA can run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control; swap any part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Right-sized for a small MVP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172200" y="1691640"/>
            <a:ext cx="5440680" cy="4480560"/>
          </a:xfrm>
          <a:prstGeom prst="roundRect">
            <a:avLst>
              <a:gd name="adj" fmla="val 2449"/>
            </a:avLst>
          </a:prstGeom>
          <a:solidFill>
            <a:srgbClr val="F2F5F4"/>
          </a:solidFill>
          <a:ln/>
          <a:effectLst>
            <a:outerShdw sx="100000" sy="100000" kx="0" ky="0" algn="bl" rotWithShape="0" blurRad="50800" dist="25400" dir="5400000">
              <a:srgbClr val="BBBBBB">
                <a:alpha val="3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446520" y="18745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685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Buy (Iomete)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6492240" y="2468880"/>
            <a:ext cx="48463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Licensing cost; less labour, vendor support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Heavier — runs on Kubernetes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features &amp; governance built in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large scale &amp; compliance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63093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the pattern cheaply now; re-evaluate a platform when scale, governance, or team-capacity limits bite.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C3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0972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is an MVP data lake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2194560"/>
            <a:ext cx="102412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E4E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anything — structured today, documents &amp; more later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E4E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full raw history cheaply; reprocess as questions change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E4E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Breaks down silos in one governed place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E4E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our own hardware, offline, on open standards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31520" y="4892040"/>
            <a:ext cx="2926080" cy="45720"/>
          </a:xfrm>
          <a:prstGeom prst="rect">
            <a:avLst/>
          </a:prstGeom>
          <a:solidFill>
            <a:srgbClr val="6FA28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5074920"/>
            <a:ext cx="10607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A7D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platform to practice:  </a:t>
            </a:r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foundation for data-driven leadership — one trusted source of truth, made visible. The technology is proven; the next step is the habit of asking questions of the data and acting on the answers.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2026-09-07T01:22:04Z</dcterms:created>
  <dcterms:modified xsi:type="dcterms:W3CDTF">2026-09-07T01:22:04Z</dcterms:modified>
</cp:coreProperties>
</file>